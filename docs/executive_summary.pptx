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Fraud Detection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Analysis &amp; Model Evaluation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Leadership &amp; Risk Committee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18,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a Glance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 science team analyzed 2,512 financial transactions using unsupervised machine learning to identify potentially fraudulent activity without requiring pre-labeled fraud data. The model assigned every transaction a risk score, flagging 126 transactions (5.02%) as anomalous.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560320" cy="1005840"/>
          </a:xfrm>
          <a:prstGeom prst="rect">
            <a:avLst/>
          </a:prstGeom>
          <a:solidFill>
            <a:srgbClr val="EFF6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40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2,512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Analyzed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560320" cy="1005840"/>
          </a:xfrm>
          <a:prstGeom prst="rect">
            <a:avLst/>
          </a:prstGeom>
          <a:solidFill>
            <a:srgbClr val="EFF6FF"/>
          </a:solidFill>
          <a:ln w="381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240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91840" y="2651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as Anomalous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8803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5.02% anomaly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103120"/>
            <a:ext cx="2560320" cy="1005840"/>
          </a:xfrm>
          <a:prstGeom prst="rect">
            <a:avLst/>
          </a:prstGeom>
          <a:solidFill>
            <a:srgbClr val="EFF6FF"/>
          </a:solidFill>
          <a:ln w="381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240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~40–60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126480" y="2651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Fraud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28803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detectors agree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2560320" cy="1005840"/>
          </a:xfrm>
          <a:prstGeom prst="rect">
            <a:avLst/>
          </a:prstGeom>
          <a:solidFill>
            <a:srgbClr val="EFF6FF"/>
          </a:solidFill>
          <a:ln w="381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74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$686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Anomalous Amount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$277 normal (+148%)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3337560"/>
            <a:ext cx="2560320" cy="1005840"/>
          </a:xfrm>
          <a:prstGeom prst="rect">
            <a:avLst/>
          </a:prstGeom>
          <a:solidFill>
            <a:srgbClr val="EFF6FF"/>
          </a:solidFill>
          <a:ln w="381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474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2.68×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291840" y="3886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Login Attempts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41148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1.04 normal (+158%)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337560"/>
            <a:ext cx="2560320" cy="1005840"/>
          </a:xfrm>
          <a:prstGeom prst="rect">
            <a:avLst/>
          </a:prstGeom>
          <a:solidFill>
            <a:srgbClr val="EFF6FF"/>
          </a:solidFill>
          <a:ln w="381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474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1.17×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126480" y="3886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/ Balance Ratio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41148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0.15 normal (+680%)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in financial services is growing in sophistication. Traditional rule-based systems catch known patterns but miss novel attack vectors. Our dataset had no confirmed fraud labels — meaning we couldn't rely on historical examples. Instead, we applied machine learning to identify transactions that are statistically unusual across multiple dimensions.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undetected fraud transaction represents an average of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$686 in direct loss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plus reputational damage and regulatory exposure.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failed login attempts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present in 53% of flagged transactions — indicate credential-stuffing attacks that could compromise many more accounts.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more than account balance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(ratio &gt; 1.0) represents exploitation of processing windows and settlement delays.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Fraud Signals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features were overwhelmingly predictive of anomalous behavior: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237744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Signal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Anomalous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Amount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$277 avg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$686 avg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Attempts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 avg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2.68 avg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/ Balance Ratio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+680%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Duration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 sec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 sec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600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Signal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38912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35040" y="1600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89120" y="2057400"/>
            <a:ext cx="164592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2" name="Shape 9"/>
          <p:cNvSpPr/>
          <p:nvPr/>
        </p:nvSpPr>
        <p:spPr>
          <a:xfrm>
            <a:off x="6035040" y="2057400"/>
            <a:ext cx="310896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3" name="Shape 10"/>
          <p:cNvSpPr/>
          <p:nvPr/>
        </p:nvSpPr>
        <p:spPr>
          <a:xfrm>
            <a:off x="4389120" y="2514600"/>
            <a:ext cx="164592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Shape 11"/>
          <p:cNvSpPr/>
          <p:nvPr/>
        </p:nvSpPr>
        <p:spPr>
          <a:xfrm>
            <a:off x="6035040" y="2514600"/>
            <a:ext cx="310896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5" name="Shape 12"/>
          <p:cNvSpPr/>
          <p:nvPr/>
        </p:nvSpPr>
        <p:spPr>
          <a:xfrm>
            <a:off x="4389120" y="2971800"/>
            <a:ext cx="164592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6" name="Shape 13"/>
          <p:cNvSpPr/>
          <p:nvPr/>
        </p:nvSpPr>
        <p:spPr>
          <a:xfrm>
            <a:off x="6035040" y="2971800"/>
            <a:ext cx="310896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7" name="Shape 14"/>
          <p:cNvSpPr/>
          <p:nvPr/>
        </p:nvSpPr>
        <p:spPr>
          <a:xfrm>
            <a:off x="4389120" y="3429000"/>
            <a:ext cx="164592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8" name="Shape 15"/>
          <p:cNvSpPr/>
          <p:nvPr/>
        </p:nvSpPr>
        <p:spPr>
          <a:xfrm>
            <a:off x="6035040" y="3429000"/>
            <a:ext cx="3108960" cy="457200"/>
          </a:xfrm>
          <a:prstGeom prst="rect">
            <a:avLst/>
          </a:prstGeom>
          <a:solidFill>
            <a:srgbClr val="FEE2E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Highest-Risk Transactions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transactions received the highest anomaly scores and warrant immediate investigation: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097280"/>
                <a:gridCol w="1371600"/>
                <a:gridCol w="118872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TX000275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3.63×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TX000899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1.78×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TX000615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TX000148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TX002087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554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ID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828800" y="1554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0" y="15544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97680" y="1554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0" y="15544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0" y="1554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TX000275 is the single most suspicious transaction: a $1,176 charge after 5 failed login attempts against a $324 account balance — spending 3.63× the available funds.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Validation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confirmed fraud labels, we validated the model using an independent second detector (Local Outlier Factor) as a proxy ground-truth, alongside statistical and stability tests. The results give us high confidence the model is identifying genuinely suspicious behavior.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274320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2926080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 vs LOF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Discrimination 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notebook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 vs LOF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Precision-recall balance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notebook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separation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notebook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Detector Agreement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+ LOF consensus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notebook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(50 runs)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stability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variance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Contamination Sweep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 (2–10%)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40–60 certain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Importance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features drive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 = #1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1920240"/>
            <a:ext cx="82296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920240"/>
            <a:ext cx="2103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Test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560320" y="1920240"/>
            <a:ext cx="3200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0720" y="1920240"/>
            <a:ext cx="29260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Three-Tier Operating Thresholds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threshold optimization analysis, we recommend replacing a binary flag/no-flag system with three graduated tiers: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868680"/>
          </a:xfrm>
          <a:prstGeom prst="rect">
            <a:avLst/>
          </a:prstGeom>
          <a:solidFill>
            <a:srgbClr val="ECFDF5"/>
          </a:solidFill>
          <a:ln w="381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Auto-Approve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0.45  •  Process normally  •  ~90% of transactions  •  No analyst load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8229600" cy="868680"/>
          </a:xfrm>
          <a:prstGeom prst="rect">
            <a:avLst/>
          </a:prstGeom>
          <a:solidFill>
            <a:srgbClr val="FEF3C7"/>
          </a:solidFill>
          <a:ln w="381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346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Soft Flag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 ≤ Score &lt; 0.75  •  Step-up authentication  •  ~5%  •  Optional review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8229600" cy="868680"/>
          </a:xfrm>
          <a:prstGeom prst="rect">
            <a:avLst/>
          </a:prstGeom>
          <a:solidFill>
            <a:srgbClr val="FEE2E2"/>
          </a:solidFill>
          <a:ln w="381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404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🚫  Hard Block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0.75  •  Suspend — human review  •  ~5%  •  Priority queue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is estimated to reduce analyst review workload by 60–70% compared to reviewing all flagged transactions.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modeled the financial value of deploying this system using conservative assumptions: $12 analyst review cost per case, $8 false-positive friction cost, and a 70% fraud recovery rate.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560320" cy="1005840"/>
          </a:xfrm>
          <a:prstGeom prst="rect">
            <a:avLst/>
          </a:prstGeom>
          <a:solidFill>
            <a:srgbClr val="EFF6FF"/>
          </a:solidFill>
          <a:ln w="381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$~45K+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Potentially Recovered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optimal threshold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874520"/>
            <a:ext cx="2560320" cy="1005840"/>
          </a:xfrm>
          <a:prstGeom prst="rect">
            <a:avLst/>
          </a:prstGeom>
          <a:solidFill>
            <a:srgbClr val="EFF6FF"/>
          </a:solidFill>
          <a:ln w="381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$~5K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9184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+ Friction Costs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6517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FP costs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874520"/>
            <a:ext cx="2560320" cy="1005840"/>
          </a:xfrm>
          <a:prstGeom prst="rect">
            <a:avLst/>
          </a:prstGeom>
          <a:solidFill>
            <a:srgbClr val="EFF6FF"/>
          </a:solidFill>
          <a:ln w="381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Positive ROI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12648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Net Value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26517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notebook Section 12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net value figures are computed dynamically in the notebook (Section 12) against the specific dataset. The framework is fully configurable — update cost assumptions to reflect your organization's actual analyst hourly rate, churn cost per false positive, and fraud recovery capabilities.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EFF6FF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🔒  Security — Stop Fraud in Real Time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 block when Amount/Balance Ratio &gt; 1.0 — require biometric/OTP confirmation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Throttle login attempts: CAPTCHA after 2 failures, lockout after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24-hour velocity caps: flag transactions exceeding 3× account mean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solidFill>
            <a:srgbClr val="EFF6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🛡️  Trust — Protect Customer Relationships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graduated friction (three-tier system) to reduce false-positive frustration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Send instant, plain-language alerts with reason and one-tap dispute button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8229600" cy="1097280"/>
          </a:xfrm>
          <a:prstGeom prst="rect">
            <a:avLst/>
          </a:prstGeom>
          <a:solidFill>
            <a:srgbClr val="EFF6FF"/>
          </a:solidFill>
          <a:ln w="381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⚙️  Efficiency — Optimize Operations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Sort flagged transactions by score — investigators start with top 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Enrich model with device fingerprint, geo-velocity, and merchant category codes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Next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actions: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3108960"/>
        </p:xfrm>
        <a:graphic>
          <a:graphicData uri="http://schemas.openxmlformats.org/drawingml/2006/table">
            <a:tbl>
              <a:tblPr/>
              <a:tblGrid>
                <a:gridCol w="1645920"/>
                <a:gridCol w="3474720"/>
                <a:gridCol w="1645920"/>
                <a:gridCol w="1463040"/>
              </a:tblGrid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review of top 20 transactions (score ≥ 0.85)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week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Amount/Balance Ratio &gt; 1.0 real-time block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login throttling (2-attempt trigger)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three-tier score threshold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 /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— 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 label collection on reviewed cases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— 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 model with device + geo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6–8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— 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up monthly retraining + drift 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1554480"/>
            <a:ext cx="8229600" cy="3886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554480"/>
            <a:ext cx="164592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103120" y="1554480"/>
            <a:ext cx="347472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577840" y="1554480"/>
            <a:ext cx="164592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23760" y="1554480"/>
            <a:ext cx="14630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3200400" y="2651760"/>
            <a:ext cx="27432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documentation: </a:t>
            </a:r>
            <a:pPr algn="ctr" indent="0" marL="0">
              <a:buNone/>
            </a:pPr>
            <a:r>
              <a:rPr lang="en-US" sz="15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fraud_anomaly_detection.ipynb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Team • Python 3.10 • scikit-learn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Fraud Detection — Executive Summary</dc:title>
  <dc:subject>PptxGenJS Presentation</dc:subject>
  <dc:creator>Data Science Team</dc:creator>
  <cp:lastModifiedBy>Data Science Team</cp:lastModifiedBy>
  <cp:revision>1</cp:revision>
  <dcterms:created xsi:type="dcterms:W3CDTF">2026-02-18T06:53:52Z</dcterms:created>
  <dcterms:modified xsi:type="dcterms:W3CDTF">2026-02-18T06:53:52Z</dcterms:modified>
</cp:coreProperties>
</file>